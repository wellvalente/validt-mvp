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Montserrat" panose="00000500000000000000" pitchFamily="2" charset="0"/>
      <p:bold r:id="rId9"/>
    </p:embeddedFont>
    <p:embeddedFont>
      <p:font typeface="Roboto" panose="020000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6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342900" y="-3429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49000" y="5715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896600" y="609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63300" y="609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0" y="609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6800" y="4643437"/>
            <a:ext cx="762000" cy="57150"/>
          </a:xfrm>
          <a:prstGeom prst="rect">
            <a:avLst/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6800" y="2157412"/>
            <a:ext cx="75759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8C94"/>
                </a:solidFill>
                <a:latin typeface="Montserrat"/>
              </a:rPr>
              <a:t>BRAND STYLE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586037"/>
            <a:ext cx="6160770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1" i="0" u="none">
                <a:solidFill>
                  <a:srgbClr val="FFFFFF"/>
                </a:solidFill>
                <a:latin typeface="Montserrat"/>
              </a:rPr>
              <a:t>MANUAL</a:t>
            </a:r>
            <a:r>
              <a:t>
</a:t>
            </a:r>
            <a:r>
              <a:rPr sz="6000" b="1" i="0" u="none">
                <a:solidFill>
                  <a:srgbClr val="FFFFFF"/>
                </a:solidFill>
                <a:latin typeface="Montserrat"/>
              </a:rPr>
              <a:t> DE MARCA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739E12B-F287-9367-FD18-CF940F4D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30" y="1716789"/>
            <a:ext cx="4888370" cy="3675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6096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91200" y="2181225"/>
            <a:ext cx="5791200" cy="3867150"/>
          </a:xfrm>
          <a:prstGeom prst="roundRect">
            <a:avLst>
              <a:gd name="adj" fmla="val 394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914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914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914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965203"/>
            <a:ext cx="571500" cy="38100"/>
          </a:xfrm>
          <a:prstGeom prst="rect">
            <a:avLst/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52863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7500" y="52863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34200" y="52863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2816721"/>
            <a:ext cx="4900612" cy="1919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0B2046"/>
                </a:solidFill>
                <a:latin typeface="Montserrat"/>
              </a:rPr>
              <a:t>A Essência da</a:t>
            </a:r>
            <a:r>
              <a:t>
</a:t>
            </a:r>
            <a:r>
              <a:rPr sz="4200" b="1" i="0" u="none">
                <a:solidFill>
                  <a:srgbClr val="0B2046"/>
                </a:solidFill>
                <a:latin typeface="Montserrat"/>
              </a:rPr>
              <a:t> Nossa Identidade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90825"/>
            <a:ext cx="57912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8C94"/>
                </a:solidFill>
                <a:latin typeface="Montserrat"/>
              </a:rPr>
              <a:t>Diretrizes Oficiais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43275"/>
            <a:ext cx="4667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Roboto"/>
              </a:rPr>
              <a:t>Consistência e integridade em todos os pontos de contato.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00525"/>
            <a:ext cx="4667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5F5F5"/>
                </a:solidFill>
                <a:latin typeface="Roboto"/>
              </a:rPr>
              <a:t>Reforçando valores de precisão, crescimento e excelência industrial.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71D766CB-BF13-40AF-DFB9-FA1ACB15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102949"/>
            <a:ext cx="1160585" cy="87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8275" y="833437"/>
            <a:ext cx="5724525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201400" y="6524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48125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8849" y="4048125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4048125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048125"/>
            <a:ext cx="3454449" cy="57150"/>
          </a:xfrm>
          <a:prstGeom prst="rect">
            <a:avLst/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68849" y="4048125"/>
            <a:ext cx="3454449" cy="57150"/>
          </a:xfrm>
          <a:prstGeom prst="rect">
            <a:avLst/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8099" y="4048125"/>
            <a:ext cx="3454449" cy="57150"/>
          </a:xfrm>
          <a:prstGeom prst="rect">
            <a:avLst/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5788223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B2046"/>
                </a:solidFill>
                <a:latin typeface="Montserrat"/>
              </a:rPr>
              <a:t>Conceito do Logotipo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6275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A Base Sólida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14900"/>
            <a:ext cx="29400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333333"/>
                </a:solidFill>
                <a:latin typeface="Roboto"/>
              </a:rPr>
              <a:t>Diagnóstico preciso e fundação estruturada dos processos.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4486275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O "Check"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4914900"/>
            <a:ext cx="29400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333333"/>
                </a:solidFill>
                <a:latin typeface="Roboto"/>
              </a:rPr>
              <a:t>Aprovação, eficiência e validação tangível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99" y="4486275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Seta Ascendente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4914900"/>
            <a:ext cx="29400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333333"/>
                </a:solidFill>
                <a:latin typeface="Roboto"/>
              </a:rPr>
              <a:t>Melhoria contínua e direção clara para o futuro.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542B1FF7-5120-C9F2-2DBF-D38C10D2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67" y="1076325"/>
            <a:ext cx="3733865" cy="2807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86250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375" y="1619250"/>
            <a:ext cx="2857500" cy="2857500"/>
          </a:xfrm>
          <a:prstGeom prst="roundRect">
            <a:avLst>
              <a:gd name="adj" fmla="val 16666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48250" y="4186237"/>
            <a:ext cx="63817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00225" y="50863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66925" y="50863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33625" y="50863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48250" y="1519237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48250" y="2776537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8250" y="4652962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86450" y="4652962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7953" y="2293590"/>
            <a:ext cx="2750343" cy="150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Montserrat"/>
              </a:rPr>
              <a:t>Cores da</a:t>
            </a:r>
            <a:r>
              <a:t>
</a:t>
            </a:r>
            <a:r>
              <a:rPr sz="3600" b="1" i="0" u="none">
                <a:solidFill>
                  <a:srgbClr val="FFFFFF"/>
                </a:solidFill>
                <a:latin typeface="Montserrat"/>
              </a:rPr>
              <a:t> Marca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050" y="1600200"/>
            <a:ext cx="47755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Azul Validt (Principal)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1952625"/>
            <a:ext cx="4548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monospace"/>
              </a:rPr>
              <a:t>HEX: #0B2046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7050" y="2190750"/>
            <a:ext cx="4548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Confiança, estabilidade e experiência executiva.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2857500"/>
            <a:ext cx="44255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8C94"/>
                </a:solidFill>
                <a:latin typeface="Montserrat"/>
              </a:rPr>
              <a:t>Turquesa Validt (Destaque)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3209925"/>
            <a:ext cx="4214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monospace"/>
              </a:rPr>
              <a:t>HEX: #118C94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050" y="3448050"/>
            <a:ext cx="4214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Inovação, crescimento, energia e tecnologia.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7050" y="4719637"/>
            <a:ext cx="53149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Montserrat"/>
              </a:rPr>
              <a:t>Cores de Apoio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7050" y="5072062"/>
            <a:ext cx="5314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Branco para respiro. Grafite (#333333) para leitura longa.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524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562600" y="833437"/>
            <a:ext cx="60198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85925"/>
            <a:ext cx="5162550" cy="5076825"/>
          </a:xfrm>
          <a:prstGeom prst="roundRect">
            <a:avLst>
              <a:gd name="adj" fmla="val 3001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685925"/>
            <a:ext cx="5200650" cy="5076825"/>
          </a:xfrm>
          <a:prstGeom prst="roundRect">
            <a:avLst>
              <a:gd name="adj" fmla="val 3001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6800" y="5781675"/>
            <a:ext cx="4248150" cy="523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5562600"/>
            <a:ext cx="424815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66800" y="5781675"/>
            <a:ext cx="424815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5562600"/>
            <a:ext cx="424815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609600"/>
            <a:ext cx="5400675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B2046"/>
                </a:solidFill>
                <a:latin typeface="Montserrat"/>
              </a:rPr>
              <a:t>Sistema Tipográfico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143125"/>
            <a:ext cx="5310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8C94"/>
                </a:solidFill>
                <a:latin typeface="Roboto"/>
              </a:rPr>
              <a:t>TIPOGRAFIA PRIMÁRIA (TÍTULOS)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495550"/>
            <a:ext cx="5575696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0B2046"/>
                </a:solidFill>
                <a:latin typeface="Montserrat"/>
              </a:rPr>
              <a:t>Montserrat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371850"/>
            <a:ext cx="531018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33333"/>
                </a:solidFill>
                <a:latin typeface="Montserrat"/>
              </a:rPr>
              <a:t>Aa Bb Cc 0123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048125"/>
            <a:ext cx="4343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66666"/>
                </a:solidFill>
                <a:latin typeface="Montserrat"/>
              </a:rPr>
              <a:t>A B C D E F G H I J K L M N O P Q R S T U V W X Y Z</a:t>
            </a:r>
            <a:r>
              <a:t>
</a:t>
            </a:r>
            <a:r>
              <a:rPr sz="1500" b="0" i="0" u="none">
                <a:solidFill>
                  <a:srgbClr val="666666"/>
                </a:solidFill>
                <a:latin typeface="Montserrat"/>
              </a:rPr>
              <a:t> a b c d e f g h i j k l m n o p q r s t u v w x y 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62175"/>
            <a:ext cx="5310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66666"/>
                </a:solidFill>
                <a:latin typeface="Roboto"/>
              </a:rPr>
              <a:t>TIPOGRAFIA SECUNDÁRIA (CORPO)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14600"/>
            <a:ext cx="456057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333333"/>
                </a:solidFill>
                <a:latin typeface="Montserrat"/>
              </a:rPr>
              <a:t>Roboto / Open Sans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38600"/>
            <a:ext cx="5310187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33333"/>
                </a:solidFill>
                <a:latin typeface="Roboto"/>
              </a:rPr>
              <a:t>Aa Bb Cc 0123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05350"/>
            <a:ext cx="4343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66666"/>
                </a:solidFill>
                <a:latin typeface="Roboto"/>
              </a:rPr>
              <a:t>A B C D E F G H I J K L M N O P Q R S T U V W X Y Z</a:t>
            </a:r>
            <a:r>
              <a:t>
</a:t>
            </a:r>
            <a:r>
              <a:rPr sz="1500" b="0" i="0" u="none">
                <a:solidFill>
                  <a:srgbClr val="666666"/>
                </a:solidFill>
                <a:latin typeface="Roboto"/>
              </a:rPr>
              <a:t> a b c d e f g h i j k l m n o p q r s t u v w x y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6105525"/>
            <a:ext cx="5310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Uso restrito a grandes títulos e materiais publicitários.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886450"/>
            <a:ext cx="4343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Garante excelente legibilidade em descritivos e textos longos.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96600" y="7667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63300" y="7667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430000" y="7667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8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24600" y="1533525"/>
            <a:ext cx="5257800" cy="1362075"/>
          </a:xfrm>
          <a:prstGeom prst="roundRect">
            <a:avLst>
              <a:gd name="adj" fmla="val 8391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24600" y="3200400"/>
            <a:ext cx="5257800" cy="3048000"/>
          </a:xfrm>
          <a:prstGeom prst="roundRect">
            <a:avLst>
              <a:gd name="adj" fmla="val 3750"/>
            </a:avLst>
          </a:prstGeom>
          <a:solidFill>
            <a:srgbClr val="0B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5538192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B2046"/>
                </a:solidFill>
                <a:latin typeface="Montserrat"/>
              </a:rPr>
              <a:t>Regras de Aplicação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495925"/>
            <a:ext cx="69008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Área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48350"/>
            <a:ext cx="5353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Roboto"/>
              </a:rPr>
              <a:t>Espaço vazio obrigatório equivalente à altura da letra "V". Livre de outros elementos gráficos.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505200"/>
            <a:ext cx="5562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8C94"/>
                </a:solidFill>
                <a:latin typeface="Montserrat"/>
              </a:rPr>
              <a:t>Práticas Proibidas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1838325"/>
            <a:ext cx="288786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2046"/>
                </a:solidFill>
                <a:latin typeface="Montserrat"/>
              </a:rPr>
              <a:t>Tamanho Mínimo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2190750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Roboto"/>
              </a:rPr>
              <a:t>Digital:</a:t>
            </a:r>
            <a:r>
              <a:rPr sz="1350" b="0" i="0" u="none">
                <a:solidFill>
                  <a:srgbClr val="333333"/>
                </a:solidFill>
                <a:latin typeface="Roboto"/>
              </a:rPr>
              <a:t> 120 pixels de largura.</a:t>
            </a:r>
            <a:r>
              <a:t>
</a:t>
            </a:r>
            <a:r>
              <a:rPr sz="1350" b="1" i="0" u="none">
                <a:solidFill>
                  <a:srgbClr val="333333"/>
                </a:solidFill>
                <a:latin typeface="Roboto"/>
              </a:rPr>
              <a:t>Impressão:</a:t>
            </a:r>
            <a:r>
              <a:rPr sz="1350" b="0" i="0" u="none">
                <a:solidFill>
                  <a:srgbClr val="333333"/>
                </a:solidFill>
                <a:latin typeface="Roboto"/>
              </a:rPr>
              <a:t> 3 cm de largura.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0850" y="400907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Robo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10025"/>
            <a:ext cx="5334000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Roboto"/>
              </a:rPr>
              <a:t>Não distorcer as proporções (esticar ou achatar).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850" y="435956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Robo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60515"/>
            <a:ext cx="5334000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Roboto"/>
              </a:rPr>
              <a:t>Não alterar as cores estabelecidas.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471005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Robo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11005"/>
            <a:ext cx="5334000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Roboto"/>
              </a:rPr>
              <a:t>Não aplicar efeitos de sombra ou chanfro.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5060543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Robo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061495"/>
            <a:ext cx="5334000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Roboto"/>
              </a:rPr>
              <a:t>Não aplicar sobre fundos fotográficos complexos.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A1A47B8-4550-4399-1245-13F857DF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2815"/>
            <a:ext cx="4888370" cy="367582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2E39EAE-8198-2A5A-A860-AFF0C9969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01" y="1824550"/>
            <a:ext cx="1080000" cy="812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208782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1551682"/>
            <a:ext cx="4000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75" y="2808982"/>
            <a:ext cx="10001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Montserrat"/>
              </a:rPr>
              <a:t>Este manual é o seu guia definitivo de comunicação.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5015" y="4134742"/>
            <a:ext cx="43219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18C94"/>
                </a:solidFill>
                <a:latin typeface="Roboto"/>
              </a:rPr>
              <a:t>Validt Consultoria e Treinamentos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61D4979-6552-C2C9-3D14-12EC1AD48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596" y="4630042"/>
            <a:ext cx="1672806" cy="1257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369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Roboto</vt:lpstr>
      <vt:lpstr>monospace</vt:lpstr>
      <vt:lpstr>Arial</vt:lpstr>
      <vt:lpstr>Montserrat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 Itutex</cp:lastModifiedBy>
  <cp:revision>2</cp:revision>
  <dcterms:created xsi:type="dcterms:W3CDTF">2013-01-27T09:14:16Z</dcterms:created>
  <dcterms:modified xsi:type="dcterms:W3CDTF">2026-09-22T18:33:11Z</dcterms:modified>
  <cp:category/>
</cp:coreProperties>
</file>